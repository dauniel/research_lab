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1A6EB5"/>
                </a:solidFill>
              </a:rPr>
              <a:t>Spring 2026 Check-in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423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A1A2E"/>
                </a:solidFill>
              </a:rPr>
              <a:t>Segmentation Model Survey — JABr Condensates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017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667788"/>
                </a:solidFill>
              </a:rPr>
              <a:t>Daniel Chang  ·  C&amp;S BIO 199/197  ·  PI: Elisa Franco  ·  2026-04-23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657600"/>
            <a:ext cx="11274552" cy="25400"/>
          </a:xfrm>
          <a:prstGeom prst="rect">
            <a:avLst/>
          </a:prstGeom>
          <a:solidFill>
            <a:srgbClr val="1A6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84048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·  Winter pipeline left a PC gap: automated 2.04 vs. manual reference 6.32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22452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·  Goal this week: survey alternative segmentation models to close the gap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608576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·  Dataset: JABr ROI Z-stack  (55 slices × 185 × 259, 2-channel fluorescence)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A6EB5"/>
                </a:solidFill>
              </a:rPr>
              <a:t>Model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67788"/>
                </a:solidFill>
              </a:rPr>
              <a:t>Same PC formula, same dataset — 4 new models benchmarked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11274552" cy="25400"/>
          </a:xfrm>
          <a:prstGeom prst="rect">
            <a:avLst/>
          </a:prstGeom>
          <a:solidFill>
            <a:srgbClr val="1A6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325880"/>
            <a:ext cx="11430000" cy="475488"/>
          </a:xfrm>
          <a:prstGeom prst="rect">
            <a:avLst/>
          </a:prstGeom>
          <a:solidFill>
            <a:srgbClr val="1A6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80744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6EB5"/>
                </a:solidFill>
              </a:rPr>
              <a:t>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1380744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6EB5"/>
                </a:solidFill>
              </a:rPr>
              <a:t>Approach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1380744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6EB5"/>
                </a:solidFill>
              </a:rPr>
              <a:t>PC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1380744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6EB5"/>
                </a:solidFill>
              </a:rPr>
              <a:t>Runtime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856232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</a:rPr>
              <a:t>Old Cellpose (2D)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1856232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</a:rPr>
              <a:t>cyto2, slice-by-slice (baseline)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1856232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</a:rPr>
              <a:t>2.04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0" y="185623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</a:rPr>
              <a:t>—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276856"/>
            <a:ext cx="11430000" cy="47548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3317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5803D"/>
                </a:solidFill>
              </a:rPr>
              <a:t>Cellpose 3  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233172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5803D"/>
                </a:solidFill>
              </a:rPr>
              <a:t>cyto3 + denoising + 3D mode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79" y="23317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5803D"/>
                </a:solidFill>
              </a:rPr>
              <a:t>3.33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0" y="23317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5803D"/>
                </a:solidFill>
              </a:rPr>
              <a:t>11 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80720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</a:rPr>
              <a:t>StarDist 2D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2807208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</a:rPr>
              <a:t>versatile_fluo, slice-by-slice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79" y="2807208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</a:rPr>
              <a:t>1.91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280720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</a:rPr>
              <a:t>6 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227832"/>
            <a:ext cx="11430000" cy="47548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282696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24000"/>
                </a:solidFill>
              </a:rPr>
              <a:t>U-FISH 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4720" y="3282696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24000"/>
                </a:solidFill>
              </a:rPr>
              <a:t>ONNX spot detection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3282696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24000"/>
                </a:solidFill>
              </a:rPr>
              <a:t>3.81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0" y="3282696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24000"/>
                </a:solidFill>
              </a:rPr>
              <a:t>2 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3758184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</a:rPr>
              <a:t>Nellie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74720" y="3758184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</a:rPr>
              <a:t>Frangi filter + graph analysis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3758184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</a:rPr>
              <a:t>3.57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0" y="3758184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</a:rPr>
              <a:t>14 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4178808"/>
            <a:ext cx="11430000" cy="47548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4233672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6EB5"/>
                </a:solidFill>
              </a:rPr>
              <a:t>Reference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74720" y="4233672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6EB5"/>
                </a:solidFill>
              </a:rPr>
              <a:t>Manual / ImageJ benchmark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98079" y="4233672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6EB5"/>
                </a:solidFill>
              </a:rPr>
              <a:t>6.32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0" y="423367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6EB5"/>
                </a:solidFill>
              </a:rPr>
              <a:t>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7788"/>
                </a:solidFill>
              </a:rPr>
              <a:t>★ Recommended    † U-FISH nuclei mask = Otsu threshold, not a trained model — PC likely inflated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A6EB5"/>
                </a:solidFill>
              </a:rPr>
              <a:t>Why Cellpose 3?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67788"/>
                </a:solidFill>
              </a:rPr>
              <a:t>Three concrete changes over the Winter baseline (PC: 2.04 → 3.33)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11274552" cy="25400"/>
          </a:xfrm>
          <a:prstGeom prst="rect">
            <a:avLst/>
          </a:prstGeom>
          <a:solidFill>
            <a:srgbClr val="1A6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73152" cy="777240"/>
          </a:xfrm>
          <a:prstGeom prst="rect">
            <a:avLst/>
          </a:prstGeom>
          <a:solidFill>
            <a:srgbClr val="1A6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325880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6EB5"/>
                </a:solidFill>
              </a:rPr>
              <a:t>1  Denoising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4592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DenoiseModel cyto3 runs on every slice before segmentation — suppresses shot noise, sharpens condensate boundaries.
Important: PC intensities always computed from raw pixels. Denoising only guides boundary placement.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423160"/>
            <a:ext cx="73152" cy="777240"/>
          </a:xfrm>
          <a:prstGeom prst="rect">
            <a:avLst/>
          </a:prstGeom>
          <a:solidFill>
            <a:srgbClr val="1A6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377440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6EB5"/>
                </a:solidFill>
              </a:rPr>
              <a:t>2  3D mode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69748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do_3D=True processes XY, XZ, and YZ planes simultaneously and merges gradient flows before drawing boundaries.
Old pipeline: 55 independent 2D slices → inconsistent boundaries per condensate → hurts intensity ratio.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474720"/>
            <a:ext cx="73152" cy="777240"/>
          </a:xfrm>
          <a:prstGeom prst="rect">
            <a:avLst/>
          </a:prstGeom>
          <a:solidFill>
            <a:srgbClr val="1A6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3429000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6EB5"/>
                </a:solidFill>
              </a:rPr>
              <a:t>3  cyto3 vs cyto2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374904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cyto3 trained on a larger, more diverse dataset. Better at small, dim, and irregularly shaped objects.
3D mode is likely the single largest contributor to the PC improvement.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5394960"/>
            <a:ext cx="11247120" cy="731520"/>
          </a:xfrm>
          <a:prstGeom prst="rect">
            <a:avLst/>
          </a:prstGeom>
          <a:solidFill>
            <a:srgbClr val="E8F0FE"/>
          </a:solidFill>
          <a:ln>
            <a:solidFill>
              <a:srgbClr val="1A6E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5440680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All models still fall short of reference PC = 6.32 — gap is due to condensate segmentation sensitivity. Small boundary errors have an outsized effect on intensity ratios.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A6EB5"/>
                </a:solidFill>
              </a:rPr>
              <a:t>Segmentation Output — Side-by-Side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67788"/>
                </a:solidFill>
              </a:rPr>
              <a:t>Mid-Z slice, all models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11274552" cy="25400"/>
          </a:xfrm>
          <a:prstGeom prst="rect">
            <a:avLst/>
          </a:prstGeom>
          <a:solidFill>
            <a:srgbClr val="1A6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omparison_fig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1143000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A6EB5"/>
                </a:solidFill>
              </a:rPr>
              <a:t>Caveats — Apples-to-Apples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67788"/>
                </a:solidFill>
              </a:rPr>
              <a:t>PC values are not fully comparable across models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11274552" cy="25400"/>
          </a:xfrm>
          <a:prstGeom prst="rect">
            <a:avLst/>
          </a:prstGeom>
          <a:solidFill>
            <a:srgbClr val="1A6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325880"/>
            <a:ext cx="11430000" cy="438912"/>
          </a:xfrm>
          <a:prstGeom prst="rect">
            <a:avLst/>
          </a:prstGeom>
          <a:solidFill>
            <a:srgbClr val="1A6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6EB5"/>
                </a:solidFill>
              </a:rPr>
              <a:t>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1371600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6EB5"/>
                </a:solidFill>
              </a:rPr>
              <a:t>Condensate mask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1371600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6EB5"/>
                </a:solidFill>
              </a:rPr>
              <a:t>Nuclei mask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81051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</a:rPr>
              <a:t>Old Cellpose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1810512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</a:rPr>
              <a:t>Cellpose cyto2 (2D)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1810512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</a:rPr>
              <a:t>Cellpose cyto2 (2D)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203704"/>
            <a:ext cx="11430000" cy="43891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249424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</a:rPr>
              <a:t>Cellpose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2249424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</a:rPr>
              <a:t>Cellpose cyto3 (3D)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2249424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</a:rPr>
              <a:t>Cellpose cyto3 (3D)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688336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</a:rPr>
              <a:t>StarDist 2D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2688336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</a:rPr>
              <a:t>StarDist2D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2688336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</a:rPr>
              <a:t>StarDist2D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081528"/>
            <a:ext cx="11430000" cy="43891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127248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24000"/>
                </a:solidFill>
              </a:rPr>
              <a:t>U-FISH  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1920" y="3127248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24000"/>
                </a:solidFill>
              </a:rPr>
              <a:t>U-FISH spot + disk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3127248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24000"/>
                </a:solidFill>
              </a:rPr>
              <a:t>Otsu threshold  ← different!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56616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</a:rPr>
              <a:t>Nellie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31920" y="3566160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</a:rPr>
              <a:t>Frangi + graph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3566160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</a:rPr>
              <a:t>Frangi + graph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20624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5803D"/>
                </a:solidFill>
              </a:rPr>
              <a:t>Fix: use the same Cellpose 3 nuclear mask for all models and only swap the condensate mask — isolates condensate segmentation as the single variable.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A6EB5"/>
                </a:solidFill>
              </a:rP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67788"/>
                </a:solidFill>
              </a:rPr>
              <a:t>Spring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11274552" cy="25400"/>
          </a:xfrm>
          <a:prstGeom prst="rect">
            <a:avLst/>
          </a:prstGeom>
          <a:solidFill>
            <a:srgbClr val="1A6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89888"/>
            <a:ext cx="384048" cy="384048"/>
          </a:xfrm>
          <a:prstGeom prst="rect">
            <a:avLst/>
          </a:prstGeom>
          <a:solidFill>
            <a:srgbClr val="1A6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38404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371600"/>
            <a:ext cx="10241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</a:rPr>
              <a:t>Standardize nuclear mask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700784"/>
            <a:ext cx="10241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7788"/>
                </a:solidFill>
              </a:rPr>
              <a:t>Re-run all models using Cellpose 3 nuclei masks → fair PC comparison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304288"/>
            <a:ext cx="384048" cy="384048"/>
          </a:xfrm>
          <a:prstGeom prst="rect">
            <a:avLst/>
          </a:prstGeom>
          <a:solidFill>
            <a:srgbClr val="1A6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286000"/>
            <a:ext cx="38404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241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</a:rPr>
              <a:t>3D volume estimation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615184"/>
            <a:ext cx="10241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7788"/>
                </a:solidFill>
              </a:rPr>
              <a:t>Aggregate masks across Z-slices; compute true voxel volumes per condensate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218688"/>
            <a:ext cx="384048" cy="384048"/>
          </a:xfrm>
          <a:prstGeom prst="rect">
            <a:avLst/>
          </a:prstGeom>
          <a:solidFill>
            <a:srgbClr val="1A6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200400"/>
            <a:ext cx="38404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200400"/>
            <a:ext cx="10241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</a:rPr>
              <a:t>CLI packaging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529584"/>
            <a:ext cx="10241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7788"/>
                </a:solidFill>
              </a:rPr>
              <a:t>Replace hardcoded paths in cellpose_pipeline.py with argparse / config file; add docstrings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133088"/>
            <a:ext cx="384048" cy="384048"/>
          </a:xfrm>
          <a:prstGeom prst="rect">
            <a:avLst/>
          </a:prstGeom>
          <a:solidFill>
            <a:srgbClr val="1A6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114800"/>
            <a:ext cx="38404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4114800"/>
            <a:ext cx="10241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</a:rPr>
              <a:t>Spring poster / report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443984"/>
            <a:ext cx="10241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7788"/>
                </a:solidFill>
              </a:rPr>
              <a:t>Narrative: problem → Winter pipeline → model survey → Cellpose 3 → 3D volume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A6EB5"/>
                </a:solidFill>
              </a:rPr>
              <a:t>Reference PC Investigation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67788"/>
                </a:solidFill>
              </a:rPr>
              <a:t>2026-04-23 — found a methodological mismatch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11274552" cy="25400"/>
          </a:xfrm>
          <a:prstGeom prst="rect">
            <a:avLst/>
          </a:prstGeom>
          <a:solidFill>
            <a:srgbClr val="1A6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6EB5"/>
                </a:solidFill>
              </a:rPr>
              <a:t>Three types of PC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83080"/>
            <a:ext cx="54864" cy="685800"/>
          </a:xfrm>
          <a:prstGeom prst="rect">
            <a:avLst/>
          </a:prstGeom>
          <a:solidFill>
            <a:srgbClr val="1A6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737360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2E"/>
                </a:solidFill>
              </a:rPr>
              <a:t>Nuclear PC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201168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7788"/>
                </a:solidFill>
              </a:rPr>
              <a:t>Condensate vs. dilute, both inside the nucleus. What the pipeline computes.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679192"/>
            <a:ext cx="54864" cy="685800"/>
          </a:xfrm>
          <a:prstGeom prst="rect">
            <a:avLst/>
          </a:prstGeom>
          <a:solidFill>
            <a:srgbClr val="1A6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2633472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2E"/>
                </a:solidFill>
              </a:rPr>
              <a:t>Cytoplasmic PC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2907792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7788"/>
                </a:solidFill>
              </a:rPr>
              <a:t>Condensate vs. dilute, both in the cytoplasm. Not currently computed.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575304"/>
            <a:ext cx="54864" cy="685800"/>
          </a:xfrm>
          <a:prstGeom prst="rect">
            <a:avLst/>
          </a:prstGeom>
          <a:solidFill>
            <a:srgbClr val="1A6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3529584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2E"/>
                </a:solidFill>
              </a:rPr>
              <a:t>Background-subtracted PC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3803904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7788"/>
                </a:solidFill>
              </a:rPr>
              <a:t>Same formula but a background constant B (outside all cells)
subtracted before the ratio. Reference CSVs use this.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89320" y="1234440"/>
            <a:ext cx="25400" cy="5303520"/>
          </a:xfrm>
          <a:prstGeom prst="rect">
            <a:avLst/>
          </a:prstGeom>
          <a:solidFill>
            <a:srgbClr val="CC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0" y="132588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6EB5"/>
                </a:solidFill>
              </a:rPr>
              <a:t>Findings for Sample2_5_1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1783080"/>
            <a:ext cx="54864" cy="1097280"/>
          </a:xfrm>
          <a:prstGeom prst="rect">
            <a:avLst/>
          </a:prstGeom>
          <a:solidFill>
            <a:srgbClr val="924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91072" y="1737360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2E"/>
                </a:solidFill>
              </a:rPr>
              <a:t>Dilute density anomaly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91072" y="2011680"/>
            <a:ext cx="5394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7788"/>
                </a:solidFill>
              </a:rPr>
              <a:t>Sample2_5_1 nuclear dilute density = 104.09 vs. ~70 for all other
Sample2_5 entries. If dilute were ~70, reference PC ≈ 9.4, not 6.32.
Possible cause: loose manual mask left bright condensate-edge pixels
counted as dilute, deflating the reference PC.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0" y="3063240"/>
            <a:ext cx="54864" cy="1097280"/>
          </a:xfrm>
          <a:prstGeom prst="rect">
            <a:avLst/>
          </a:prstGeom>
          <a:solidFill>
            <a:srgbClr val="924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91072" y="3017520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2E"/>
                </a:solidFill>
              </a:rPr>
              <a:t>Background subtraction not in pipeline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91072" y="3291840"/>
            <a:ext cx="5394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7788"/>
                </a:solidFill>
              </a:rPr>
              <a:t>Reference CSVs apply background subtraction before computing PC.
Pipeline does not. Formula: PC = (cond − B) / (dilute − B)
Since dilute ≈ background, subtracting B inflates PC disproportionately.
Part of the 3.33 → 6.32 gap is methodological, not just segmentation.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989320"/>
            <a:ext cx="11247120" cy="594360"/>
          </a:xfrm>
          <a:prstGeom prst="rect">
            <a:avLst/>
          </a:prstGeom>
          <a:solidFill>
            <a:srgbClr val="F0F4F8"/>
          </a:solidFill>
          <a:ln>
            <a:solidFill>
              <a:srgbClr val="1A6E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6035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2E"/>
                </a:solidFill>
              </a:rPr>
              <a:t>Action: confirm background estimation method with lab member → add bg subtraction to pipeline → recompute PC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