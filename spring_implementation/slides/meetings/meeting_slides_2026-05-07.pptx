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A1A1A"/>
                </a:solidFill>
              </a:rPr>
              <a:t>Automated Condensate Partition Coefficient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73E8"/>
                </a:solidFill>
              </a:rPr>
              <a:t>Spring 2026 Progress — Week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Daniel Chang  ·  Franco Lab  ·  C&amp;S BIO 199/197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May 7,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73E8"/>
                </a:solidFill>
              </a:rPr>
              <a:t>Since Last Meeting (April 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100">
                <a:solidFill>
                  <a:srgbClr val="1A1A1A"/>
                </a:solidFill>
              </a:rPr>
              <a:t>1.  Confirmed reference PC uses background subtraction  →  added to pipeline</a:t>
            </a:r>
          </a:p>
          <a:p>
            <a:pPr>
              <a:spcBef>
                <a:spcPts val="600"/>
              </a:spcBef>
            </a:pPr>
            <a:r>
              <a:rPr sz="2100">
                <a:solidFill>
                  <a:srgbClr val="1A1A1A"/>
                </a:solidFill>
              </a:rPr>
              <a:t>2.  Built spring_implementation/pipeline.py  (full Cellpose 3, 3D end-to-end)</a:t>
            </a:r>
          </a:p>
          <a:p>
            <a:pPr>
              <a:spcBef>
                <a:spcPts val="600"/>
              </a:spcBef>
            </a:pPr>
            <a:r>
              <a:rPr sz="2100">
                <a:solidFill>
                  <a:srgbClr val="1A1A1A"/>
                </a:solidFill>
              </a:rPr>
              <a:t>3.  Fixed nuclei over-segmentation with 3D connected-component relabeling</a:t>
            </a:r>
          </a:p>
          <a:p>
            <a:pPr>
              <a:spcBef>
                <a:spcPts val="600"/>
              </a:spcBef>
            </a:pPr>
            <a:r>
              <a:rPr sz="2100">
                <a:solidFill>
                  <a:srgbClr val="1A1A1A"/>
                </a:solidFill>
              </a:rPr>
              <a:t>4.  Solved dilute density instability  →  lowest-50-patch selection</a:t>
            </a:r>
          </a:p>
          <a:p>
            <a:pPr>
              <a:spcBef>
                <a:spcPts val="600"/>
              </a:spcBef>
            </a:pPr>
            <a:r>
              <a:rPr sz="2100">
                <a:solidFill>
                  <a:srgbClr val="1A1A1A"/>
                </a:solidFill>
              </a:rPr>
              <a:t>5.  Single-ROI result: PC = 6.297  vs  reference 6.32  (−0.4% error)</a:t>
            </a:r>
          </a:p>
          <a:p>
            <a:pPr>
              <a:spcBef>
                <a:spcPts val="600"/>
              </a:spcBef>
            </a:pPr>
            <a:r>
              <a:rPr sz="2100">
                <a:solidFill>
                  <a:srgbClr val="1A1A1A"/>
                </a:solidFill>
              </a:rPr>
              <a:t>6.  Batch validation across 30 JABr cells  →  r = 0.735,  RMSE = 2.815,  bias = +2.8%</a:t>
            </a:r>
          </a:p>
          <a:p>
            <a:pPr>
              <a:spcBef>
                <a:spcPts val="600"/>
              </a:spcBef>
            </a:pPr>
            <a:r>
              <a:rPr sz="2100">
                <a:solidFill>
                  <a:srgbClr val="1A1A1A"/>
                </a:solidFill>
              </a:rPr>
              <a:t>7.  Discovered Cellpose over-draws boundaries  →  top-75% voxel trim as fix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73E8"/>
                </a:solidFill>
              </a:rPr>
              <a:t>Pipeline Overview (pipeline.py)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371600" cy="502920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 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00584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Condensate (Ch2) + Nuclei (Ch1) TIF stacks  |  55 × 185 × 259 px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1371600" cy="502920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  Denoise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745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Cellpose 3 DenoiseModel on every Z-slice  →  sharper boundaries
    (raw pixels unchanged — denoising only guides masks)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371600" cy="502920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 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432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Cellpose 3 cyto3, do_3D=True  →  full 3D tracking
    Nuclei post-proc: binary mask → 3D connected components → drop noise
    76 Cellpose labels  →  5 clean nuclei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1371600" cy="502920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57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  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6118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regionprops_table: area, centroid, mean intensity per object per 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1371600" cy="502920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5  3D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48056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Count voxels per label across all 55 slices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1371600" cy="502920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94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6  PC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34924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Background-subtracted Fabrini formula
    cond_density = mean top-75% bright voxels in cond ∩ nuc mask
    dil_density  = mean of 50 lowest-intensity 10×10×10 patches in dilute region
    PC = cond_density / dil_density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73E8"/>
                </a:solidFill>
              </a:rPr>
              <a:t>Single-ROI Validation  (Sample2_5_1)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A73E8"/>
                </a:solidFill>
              </a:rPr>
              <a:t>PC = 6.297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D67400"/>
                </a:solidFill>
              </a:rPr>
              <a:t>Reference = 6.32  (−0.4% error)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74552" cy="27432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55555"/>
                </a:solidFill>
              </a:rPr>
              <a:t>Three improvements that closed the gap (3.3 → 6.3):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>Background subtraction  (April 25) — reference was bg-subtracted; pipeline wasn't.  Largest single jump.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>Connected-component nuclei relabeling  (April 30) — 76 Cellpose fragments → 5 true nuclei.  Fixes dilute-phase pixel coverage.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>Lowest-50-patch dilute density  (April 30) — replaces unstable single random patch (PC swing: 4.3–6.0 across seeds).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73E8"/>
                </a:solidFill>
              </a:rPr>
              <a:t>Key Finding: Cellpose Over-draws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555555"/>
                </a:solidFill>
              </a:rPr>
              <a:t>Diagnosis (Sample3_3_11, ref PC = 16.95):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>Pipeline cond density:   466   →  pipeline PC = 8.32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>Reference cond density: 1362   →  reference PC = 16.95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>Cellpose 3D masks include bright core + large dim halo + dark interior pixels.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>Manual Imaris boundaries capture only the bright core.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960120"/>
            <a:ext cx="1828800" cy="420624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03327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Variant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960120"/>
            <a:ext cx="822960" cy="420624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1033272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960120"/>
            <a:ext cx="822960" cy="420624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78440" y="1033272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55680" y="960120"/>
            <a:ext cx="822960" cy="420624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01400" y="1033272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Bias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380744"/>
            <a:ext cx="182880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145389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top-10%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380744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453896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0.912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1380744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1453896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13.10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55680" y="1380744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01400" y="1453896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+120%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801368"/>
            <a:ext cx="182880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187452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top-25%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1801368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1874520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0.865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1801368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1874520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8.17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155680" y="1801368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01400" y="1874520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+75%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2221992"/>
            <a:ext cx="182880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229514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top-50%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221992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5480" y="2295144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0.783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32720" y="2221992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78440" y="2295144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3.93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155680" y="2221992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01400" y="2295144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+30%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2642616"/>
            <a:ext cx="1828800" cy="420624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80" y="271576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top-75%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2642616"/>
            <a:ext cx="822960" cy="420624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2715768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0.735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32720" y="2642616"/>
            <a:ext cx="822960" cy="420624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8440" y="2715768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2.82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155680" y="2642616"/>
            <a:ext cx="822960" cy="420624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01400" y="2715768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+3%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063240"/>
            <a:ext cx="182880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26680" y="313639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full mean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9760" y="3063240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55480" y="3136392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0.716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32720" y="3063240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78440" y="3136392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3.25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155680" y="3063240"/>
            <a:ext cx="822960" cy="420624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01400" y="3136392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</a:rPr>
              <a:t>−16%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7400"/>
                </a:solidFill>
              </a:rPr>
              <a:t>top-75% trims the ~25% 'fluff' Cellpose adds beyond a manual boundary.
Near-zero bias and best RMSE across 29 cells.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73E8"/>
                </a:solidFill>
              </a:rPr>
              <a:t>Batch Validation — 30 JABr Cells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743200" cy="118872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73E8"/>
                </a:solidFill>
              </a:rPr>
              <a:t>0.735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</a:rPr>
              <a:t>Pearson 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743200" cy="118872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051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8965C"/>
                </a:solidFill>
              </a:rPr>
              <a:t>2.815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</a:rPr>
              <a:t>RMSE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05840"/>
            <a:ext cx="2743200" cy="118872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051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67400"/>
                </a:solidFill>
              </a:rPr>
              <a:t>+2.8%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</a:rPr>
              <a:t>Mean bias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005840"/>
            <a:ext cx="2743200" cy="118872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051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55555"/>
                </a:solidFill>
              </a:rPr>
              <a:t>29 /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</a:rPr>
              <a:t>Cells processed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5555"/>
                </a:solidFill>
              </a:rPr>
              <a:t>Well-calibrated cells (error &lt; 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A1A1A"/>
                </a:solidFill>
              </a:rPr>
              <a:t>Sample1_1_3  ref=19.77  pipe=19.90  (+0.7%)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A1A1A"/>
                </a:solidFill>
              </a:rPr>
              <a:t>Sample3_3_3   ref=8.82   pipe=8.74   (−1.0%)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A1A1A"/>
                </a:solidFill>
              </a:rPr>
              <a:t>Sample3_3_7   ref=8.68   pipe=8.55   (−1.5%)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A1A1A"/>
                </a:solidFill>
              </a:rPr>
              <a:t>Sample1_4_1   ref=6.13   pipe=6.20   (+1.1%)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A1A1A"/>
                </a:solidFill>
              </a:rPr>
              <a:t>Sample3_3_9   ref=5.92   pipe=6.13   (+3.6%)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</a:rPr>
              <a:t>Known failures (segmentation, not calibration)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34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C62828"/>
                </a:solidFill>
              </a:rPr>
              <a:t>Sample1_1_1   +146%  wrong cell selected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C62828"/>
                </a:solidFill>
              </a:rPr>
              <a:t>Sample3_3_2    −51%  missed nucleus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C62828"/>
                </a:solidFill>
              </a:rPr>
              <a:t>Sample3_3_11   −38%  bright cores undersampled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C62828"/>
                </a:solidFill>
              </a:rPr>
              <a:t>Sample2_5_5    −38%  large FOV, nucleus not detected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C62828"/>
                </a:solidFill>
              </a:rPr>
              <a:t>Sample3_3_15    NaN  zero condensate in central nuc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73E8"/>
                </a:solidFill>
              </a:rPr>
              <a:t>Per-Cell Results: Reference vs Pipeline (top-75%)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926080" cy="3931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960120"/>
            <a:ext cx="2194560" cy="3931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042416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Reference PC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960120"/>
            <a:ext cx="3291840" cy="3931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0992" y="1042416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Pipeline PC (top-75%)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960120"/>
            <a:ext cx="1828800" cy="3931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1042416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353312"/>
            <a:ext cx="292608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42646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Sample1_1_3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353312"/>
            <a:ext cx="219456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1426464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19.77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353312"/>
            <a:ext cx="329184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50992" y="1426464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19.90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353312"/>
            <a:ext cx="182880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1426464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+0.7%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746504"/>
            <a:ext cx="292608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1819656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Sample1_4_3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1746504"/>
            <a:ext cx="219456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1819656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13.96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1746504"/>
            <a:ext cx="329184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1819656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13.04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1746504"/>
            <a:ext cx="182880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1819656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−6.6%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139696"/>
            <a:ext cx="292608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212848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Sample3_3_3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2139696"/>
            <a:ext cx="219456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6432" y="2212848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8.82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2139696"/>
            <a:ext cx="329184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50992" y="2212848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8.74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2139696"/>
            <a:ext cx="182880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42832" y="221284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−1.0%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532888"/>
            <a:ext cx="292608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2606040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Sample3_3_7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2532888"/>
            <a:ext cx="219456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56432" y="2606040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8.68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2532888"/>
            <a:ext cx="329184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50992" y="2606040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8.55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2532888"/>
            <a:ext cx="182880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42832" y="2606040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−1.5%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926080"/>
            <a:ext cx="292608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2999232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Sample3_3_1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80" y="2926080"/>
            <a:ext cx="219456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56432" y="299923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8.18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2926080"/>
            <a:ext cx="329184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50992" y="2999232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8.31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2926080"/>
            <a:ext cx="182880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42832" y="2999232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+1.5%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319272"/>
            <a:ext cx="292608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339242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Sample3_3_9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83280" y="3319272"/>
            <a:ext cx="219456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56432" y="3392424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5.92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3319272"/>
            <a:ext cx="329184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392424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6.13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3319272"/>
            <a:ext cx="1828800" cy="393192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42832" y="3392424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+3.6%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712464"/>
            <a:ext cx="292608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3785616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Sample1_4_1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83280" y="3712464"/>
            <a:ext cx="219456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56432" y="3785616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6.13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77840" y="3712464"/>
            <a:ext cx="329184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50992" y="3785616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6.20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69680" y="3712464"/>
            <a:ext cx="1828800" cy="393192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42832" y="3785616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</a:rPr>
              <a:t>+1.1%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105656"/>
            <a:ext cx="292608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4178808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Sample3_3_11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83280" y="4105656"/>
            <a:ext cx="219456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56432" y="4178808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16.95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77840" y="4105656"/>
            <a:ext cx="329184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50992" y="4178808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10.57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869680" y="4105656"/>
            <a:ext cx="182880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42832" y="417880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−38.0%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498848"/>
            <a:ext cx="292608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0352" y="4572000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Sample3_3_2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83280" y="4498848"/>
            <a:ext cx="219456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56432" y="4572000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9.05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77840" y="4498848"/>
            <a:ext cx="329184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50992" y="4572000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4.47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69680" y="4498848"/>
            <a:ext cx="182880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42832" y="4572000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−50.6%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892040"/>
            <a:ext cx="292608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" y="4965192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Sample2_5_5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83280" y="4892040"/>
            <a:ext cx="219456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56432" y="496519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6.73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77840" y="4892040"/>
            <a:ext cx="329184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50992" y="4965192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4.20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69680" y="4892040"/>
            <a:ext cx="182880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42832" y="4965192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−37.6%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5285232"/>
            <a:ext cx="292608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0352" y="535838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Sample1_1_1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383280" y="5285232"/>
            <a:ext cx="219456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56432" y="5358384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4.78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77840" y="5285232"/>
            <a:ext cx="329184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650992" y="5358384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11.77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869680" y="5285232"/>
            <a:ext cx="182880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42832" y="5358384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+146%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5678424"/>
            <a:ext cx="292608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0352" y="5751576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Sample3_3_15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383280" y="5678424"/>
            <a:ext cx="219456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56432" y="5751576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6.41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577840" y="5678424"/>
            <a:ext cx="329184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650992" y="5751576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NaN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869680" y="5678424"/>
            <a:ext cx="1828800" cy="393192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42832" y="5751576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62828"/>
                </a:solidFill>
              </a:rPr>
              <a:t>NaN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5989320"/>
            <a:ext cx="228600" cy="182880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1520" y="5971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Well-calibrated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200400" y="5989320"/>
            <a:ext cx="228600" cy="182880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74720" y="5971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Segmentation failure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73E8"/>
                </a:solidFill>
              </a:rPr>
              <a:t>Outstanding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D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67400"/>
                </a:solidFill>
              </a:rPr>
              <a:t>Nuclei over-segmentation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Cellpose still labels each nucleus as ~15–25 fragments internally.
Connected-component fix makes the binary mask correct, but true fix
would need 2D+stitch or a custom-trained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4864" cy="822960"/>
          </a:xfrm>
          <a:prstGeom prst="rect">
            <a:avLst/>
          </a:prstGeom>
          <a:solidFill>
            <a:srgbClr val="D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67400"/>
                </a:solidFill>
              </a:rPr>
              <a:t>top-75% not universally optimal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877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Calibrated for JABr. If Cellpose draws tighter masks on other constructs
(JwtBr, 10ntABr), trimming 25% may over-correct.
Would need per-cell mask quality assessment to tune adaptively.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54864" cy="822960"/>
          </a:xfrm>
          <a:prstGeom prst="rect">
            <a:avLst/>
          </a:prstGeom>
          <a:solidFill>
            <a:srgbClr val="D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67400"/>
                </a:solidFill>
              </a:rPr>
              <a:t>Single-cell selection heuristic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Central nucleus works for well-cropped ROIs. Fails on wide-FOV images
(Sample2_5_5: 32×417×370) where the target cell isn't centered.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09160"/>
            <a:ext cx="54864" cy="822960"/>
          </a:xfrm>
          <a:prstGeom prst="rect">
            <a:avLst/>
          </a:prstGeom>
          <a:solidFill>
            <a:srgbClr val="D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67400"/>
                </a:solidFill>
              </a:rPr>
              <a:t>Sample3_3_15 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566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Central nucleus has zero condensate overlap. Need fallback selection
(e.g. max-overlap nucleus) when central nucleus is empty.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73E8"/>
                </a:solidFill>
              </a:rPr>
              <a:t>Discussion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</a:rPr>
              <a:t>Questions to discuss: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>Is top-75% voxel trimming a defensible method to report in the paper,
   or should we pursue tighter segmentation instead?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>Run batch_compare on other constructs (JwtBr, 10ntABr) to test generalizability?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>Outlier cells (Sample2_5_5, Sample3_3_15) — worth fixing, or exclude with justification?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</a:rPr>
              <a:t>Poster / report scope — what level of batch validation is enough?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77639"/>
            <a:ext cx="11274552" cy="27432"/>
          </a:xfrm>
          <a:prstGeom prst="rect">
            <a:avLst/>
          </a:prstGeom>
          <a:solidFill>
            <a:srgbClr val="18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</a:rPr>
              <a:t>Planned next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73E8"/>
                </a:solidFill>
              </a:rPr>
              <a:t>Run batch_compare on JwtBr / 10ntABr constructs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73E8"/>
                </a:solidFill>
              </a:rPr>
              <a:t>Fix Sample3_3_15 NaN: add fallback nucleus selection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73E8"/>
                </a:solidFill>
              </a:rPr>
              <a:t>Add discussion + applicability slides to presentation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73E8"/>
                </a:solidFill>
              </a:rPr>
              <a:t>Explore 2D+stitch approach for nuclei segmentation (if time permits)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